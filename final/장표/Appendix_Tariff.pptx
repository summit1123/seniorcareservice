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 조건 통제 페어: 같은 1951년생, 같은 기본보험료 840,000원(같은 차종), 같은 광역 저밀도 환경, 거리 차 0.1%, 밖 비중도 비슷(28.7 vs 29.6%). 기존 마일리지에서는 둘 다 21% 할인 = 663,600원으로 동일. 다른 것은 위험행동(0건 vs 137건)과 동시변화 여부뿐 → 25.5%(625,968원) vs 8%(772,800원). 핵심 방어: 8%도 할인이다. 할증 경로가 없고 하한은 기준 요율 — 180건 중 기준보험료 초과 0건. 케어 해제(기준선 복귀) 시 할인 복원.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 - 요율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3383280" y="320040"/>
            <a:ext cx="5486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케어가 열리면 보험료가 오르는 것 아닌가?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마일리지로는 둘 다 663,600원 — </a:t>
            </a:r>
            <a:pPr indent="0" marL="0">
              <a:buNone/>
            </a:pPr>
            <a:r>
              <a:rPr lang="en-US" sz="1900" b="1" dirty="0">
                <a:solidFill>
                  <a:srgbClr val="5B21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행동이 달라 할인 폭이 25.5%와 8%</a:t>
            </a:r>
            <a:pPr indent="0" marL="0">
              <a:buNone/>
            </a:pPr>
            <a:r>
              <a:rPr lang="en-US" sz="19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갈립니다.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1225296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1951년생 · 같은 차종(기본보험료 84만원) · 같은 광역 저밀도 환경 · 연 주행 6,793km vs 6,789km(차이 0.1%) · 생활권 밖 비중도 28.7% vs 29.6%로 비슷 — 다른 것은 위험행동뿐입니다.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627632"/>
            <a:ext cx="5650992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240">
            <a:solidFill>
              <a:srgbClr val="E3E7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783080"/>
            <a:ext cx="1051560" cy="274320"/>
          </a:xfrm>
          <a:prstGeom prst="roundRect">
            <a:avLst>
              <a:gd name="adj" fmla="val 46667"/>
            </a:avLst>
          </a:prstGeom>
          <a:solidFill>
            <a:srgbClr val="E6F4F1"/>
          </a:solidFill>
          <a:ln w="12700">
            <a:solidFill>
              <a:srgbClr val="E6F4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801368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83080" y="17647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Kenneth Young (b. 1951)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12648" y="2121408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광역 저밀도 · 이동변화·안전유지형 · 연 6,793km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" y="2414016"/>
            <a:ext cx="1664208" cy="603504"/>
          </a:xfrm>
          <a:prstGeom prst="roundRect">
            <a:avLst>
              <a:gd name="adj" fmla="val 10606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2376" y="246888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위험행동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22376" y="26517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386584" y="2414016"/>
            <a:ext cx="1664208" cy="603504"/>
          </a:xfrm>
          <a:prstGeom prst="roundRect">
            <a:avLst>
              <a:gd name="adj" fmla="val 10606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96312" y="246888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생활권 밖 비중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496312" y="26517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28.7%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60520" y="2414016"/>
            <a:ext cx="1664208" cy="603504"/>
          </a:xfrm>
          <a:prstGeom prst="roundRect">
            <a:avLst>
              <a:gd name="adj" fmla="val 10606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70248" y="246888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케어 발동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70248" y="26517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" y="3127248"/>
            <a:ext cx="5257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확대 21% → 25.5% · 연 ₩37,632 덜 냅니다</a:t>
            </a:r>
            <a:endParaRPr lang="en-US" sz="1050" dirty="0"/>
          </a:p>
        </p:txBody>
      </p:sp>
      <p:pic>
        <p:nvPicPr>
          <p:cNvPr id="21" name="Image 0" descr="/private/tmp/claude-501/-Users-gimdonghyeon-Desktop-seniorcareservice/60c72b2a-4eb8-48cb-9a78-503f6e83abe3/scratchpad/tariff_reward_kenne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3419856"/>
            <a:ext cx="5321808" cy="20574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281928" y="1627632"/>
            <a:ext cx="5650992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240">
            <a:solidFill>
              <a:srgbClr val="E3E7E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83096" y="1783080"/>
            <a:ext cx="1051560" cy="274320"/>
          </a:xfrm>
          <a:prstGeom prst="roundRect">
            <a:avLst>
              <a:gd name="adj" fmla="val 4666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83096" y="1801368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예방 케어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653528" y="17647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Sylvia Moore (b. 1951)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483096" y="2121408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광역 저밀도 · 동시변화형 · 연 6,789km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83096" y="2414016"/>
            <a:ext cx="1664208" cy="603504"/>
          </a:xfrm>
          <a:prstGeom prst="roundRect">
            <a:avLst>
              <a:gd name="adj" fmla="val 10606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92824" y="246888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위험행동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592824" y="26517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137건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257032" y="2414016"/>
            <a:ext cx="1664208" cy="603504"/>
          </a:xfrm>
          <a:prstGeom prst="roundRect">
            <a:avLst>
              <a:gd name="adj" fmla="val 10606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66760" y="246888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생활권 밖 비중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8366760" y="26517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29.6%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10030968" y="2414016"/>
            <a:ext cx="1664208" cy="603504"/>
          </a:xfrm>
          <a:prstGeom prst="roundRect">
            <a:avLst>
              <a:gd name="adj" fmla="val 10606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140696" y="246888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케어 발동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0140696" y="26517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1개월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83096" y="3127248"/>
            <a:ext cx="5257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축소 21% → 8% · 여전히 기준(84만원)보다 낮음</a:t>
            </a:r>
            <a:endParaRPr lang="en-US" sz="1050" dirty="0"/>
          </a:p>
        </p:txBody>
      </p:sp>
      <p:pic>
        <p:nvPicPr>
          <p:cNvPr id="37" name="Image 1" descr="/private/tmp/claude-501/-Users-gimdonghyeon-Desktop-seniorcareservice/60c72b2a-4eb8-48cb-9a78-503f6e83abe3/scratchpad/tariff_care_sylv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419856"/>
            <a:ext cx="5321808" cy="219456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411480" y="5943600"/>
            <a:ext cx="11338560" cy="512064"/>
          </a:xfrm>
          <a:prstGeom prst="roundRect">
            <a:avLst>
              <a:gd name="adj" fmla="val 14286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21792" y="6035040"/>
            <a:ext cx="10927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3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할증이 아니라 할인 축소입니다 — </a:t>
            </a:r>
            <a:pPr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8%도 할인이며, 어떤 경우에도 보험료가 기준 보험료(84만원)를 넘지 않습니다(180건 중 할증 0건). 케어가 닫히고 기준선으로 복귀하면 할인은 다시 넓어집니다.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411480" y="6528816"/>
            <a:ext cx="11338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대시보드 화면 캡처 · 합성 시뮬레이션 결과이며 확정 요율이 아닙니다 · 달러는 예시 환율(1$≈₩1,350) 환산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2026-08-04T12:22:12Z</dcterms:created>
  <dcterms:modified xsi:type="dcterms:W3CDTF">2026-08-04T12:22:12Z</dcterms:modified>
</cp:coreProperties>
</file>