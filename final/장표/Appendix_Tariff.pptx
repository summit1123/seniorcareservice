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저주행(2,511km vs 2,474km), 기존 마일리지에서 둘 다 16% 할인. 우리 산식에서 22.6% vs 3%로 갈림. 갈린 이유는 생활권 밖 비중(0% vs 7.3%)과 위험행동(13건 vs 209건)의 동시 변화. 할증 경로 없음, 기준 요율이 하한.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 - 요율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383280" y="320040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거리가 같으면 보험료도 같아야 하는 것 아닌가?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마일리지에서는 둘 다 16% 할인. </a:t>
            </a:r>
            <a:pPr indent="0" marL="0">
              <a:buNone/>
            </a:pPr>
            <a:r>
              <a:rPr lang="en-US" sz="2000" b="1" dirty="0">
                <a:solidFill>
                  <a:srgbClr val="5B21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 산식에서는 22.6% 와 3%</a:t>
            </a:r>
            <a:pPr indent="0" marL="0">
              <a:buNone/>
            </a:pPr>
            <a:r>
              <a:rPr lang="en-US" sz="200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갈립니다.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1225296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주행거리가 2,511km와 2,474km로 거의 같은 두 시니어입니다. 갈린 이유는 거리가 아니라 생활권 밖 비중과 위험행동이 함께 변했는지입니다.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627632"/>
            <a:ext cx="5650992" cy="3913632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5240">
            <a:solidFill>
              <a:srgbClr val="E3E7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783080"/>
            <a:ext cx="1051560" cy="274320"/>
          </a:xfrm>
          <a:prstGeom prst="roundRect">
            <a:avLst>
              <a:gd name="adj" fmla="val 46667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80136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7647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Ruth Miller (b. 1956)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2648" y="2121408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고밀도 도심 · 복수 생활권형 · 연 2,511km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" y="2414016"/>
            <a:ext cx="1664208" cy="603504"/>
          </a:xfrm>
          <a:prstGeom prst="roundRect">
            <a:avLst>
              <a:gd name="adj" fmla="val 10606"/>
            </a:avLst>
          </a:prstGeom>
          <a:solidFill>
            <a:srgbClr val="F4F5F9"/>
          </a:solidFill>
          <a:ln w="12700">
            <a:solidFill>
              <a:srgbClr val="F4F5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24688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생활권 밖 비중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2376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86584" y="2414016"/>
            <a:ext cx="1664208" cy="603504"/>
          </a:xfrm>
          <a:prstGeom prst="roundRect">
            <a:avLst>
              <a:gd name="adj" fmla="val 10606"/>
            </a:avLst>
          </a:prstGeom>
          <a:solidFill>
            <a:srgbClr val="F4F5F9"/>
          </a:solidFill>
          <a:ln w="12700">
            <a:solidFill>
              <a:srgbClr val="F4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24688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위험행동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96312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60520" y="2414016"/>
            <a:ext cx="1664208" cy="603504"/>
          </a:xfrm>
          <a:prstGeom prst="roundRect">
            <a:avLst>
              <a:gd name="adj" fmla="val 10606"/>
            </a:avLst>
          </a:prstGeom>
          <a:solidFill>
            <a:srgbClr val="F4F5F9"/>
          </a:solidFill>
          <a:ln w="12700">
            <a:solidFill>
              <a:srgbClr val="F4F5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0248" y="24688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케어 발동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70248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300" dirty="0"/>
          </a:p>
        </p:txBody>
      </p:sp>
      <p:pic>
        <p:nvPicPr>
          <p:cNvPr id="20" name="Image 0" descr="/private/tmp/claude-501/-Users-gimdonghyeon-Desktop-seniorcareservice/60c72b2a-4eb8-48cb-9a78-503f6e83abe3/scratchpad/tariff_favorable_r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3127248"/>
            <a:ext cx="5321808" cy="1929384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281928" y="1627632"/>
            <a:ext cx="5650992" cy="3913632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5240">
            <a:solidFill>
              <a:srgbClr val="E3E7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83096" y="1783080"/>
            <a:ext cx="1051560" cy="274320"/>
          </a:xfrm>
          <a:prstGeom prst="roundRect">
            <a:avLst>
              <a:gd name="adj" fmla="val 46667"/>
            </a:avLst>
          </a:prstGeom>
          <a:solidFill>
            <a:srgbClr val="FBF0E2"/>
          </a:solidFill>
          <a:ln w="12700">
            <a:solidFill>
              <a:srgbClr val="FBF0E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83096" y="180136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예방 케어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653528" y="17647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Edward Clark (b. 1953)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483096" y="2121408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고밀도 도심 · 동시변화형 · 연 2,474km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83096" y="2414016"/>
            <a:ext cx="1664208" cy="603504"/>
          </a:xfrm>
          <a:prstGeom prst="roundRect">
            <a:avLst>
              <a:gd name="adj" fmla="val 10606"/>
            </a:avLst>
          </a:prstGeom>
          <a:solidFill>
            <a:srgbClr val="F4F5F9"/>
          </a:solidFill>
          <a:ln w="12700">
            <a:solidFill>
              <a:srgbClr val="F4F5F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92824" y="24688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생활권 밖 비중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592824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7.3%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257032" y="2414016"/>
            <a:ext cx="1664208" cy="603504"/>
          </a:xfrm>
          <a:prstGeom prst="roundRect">
            <a:avLst>
              <a:gd name="adj" fmla="val 10606"/>
            </a:avLst>
          </a:prstGeom>
          <a:solidFill>
            <a:srgbClr val="F4F5F9"/>
          </a:solidFill>
          <a:ln w="12700">
            <a:solidFill>
              <a:srgbClr val="F4F5F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66760" y="24688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위험행동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366760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209건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10030968" y="2414016"/>
            <a:ext cx="1664208" cy="603504"/>
          </a:xfrm>
          <a:prstGeom prst="roundRect">
            <a:avLst>
              <a:gd name="adj" fmla="val 10606"/>
            </a:avLst>
          </a:prstGeom>
          <a:solidFill>
            <a:srgbClr val="F4F5F9"/>
          </a:solidFill>
          <a:ln w="12700">
            <a:solidFill>
              <a:srgbClr val="F4F5F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140696" y="24688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케어 발동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140696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1개월</a:t>
            </a:r>
            <a:endParaRPr lang="en-US" sz="1300" dirty="0"/>
          </a:p>
        </p:txBody>
      </p:sp>
      <p:pic>
        <p:nvPicPr>
          <p:cNvPr id="35" name="Image 1" descr="/private/tmp/claude-501/-Users-gimdonghyeon-Desktop-seniorcareservice/60c72b2a-4eb8-48cb-9a78-503f6e83abe3/scratchpad/tariff_care_edw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127248"/>
            <a:ext cx="5321808" cy="2039112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411480" y="5742432"/>
            <a:ext cx="11338560" cy="512064"/>
          </a:xfrm>
          <a:prstGeom prst="roundRect">
            <a:avLst>
              <a:gd name="adj" fmla="val 14286"/>
            </a:avLst>
          </a:prstGeom>
          <a:solidFill>
            <a:srgbClr val="F4F5F9"/>
          </a:solidFill>
          <a:ln w="12700">
            <a:solidFill>
              <a:srgbClr val="F4F5F9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21792" y="5833872"/>
            <a:ext cx="10927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거리가 아니라 행동입니다 — </a:t>
            </a:r>
            <a:pPr indent="0" marL="0">
              <a:buNone/>
            </a:pPr>
            <a:r>
              <a:rPr lang="en-US" sz="1050" dirty="0">
                <a:solidFill>
                  <a:srgbClr val="44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생활권 안에서 안전하게 다니면 할인이 넓어지고(연 ₩63,648 절약), 이동과 위험행동이 같은 달에 함께 변하면 그 달의 보너스가 멈춥니다(연 ₩106,080 차이). </a:t>
            </a:r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할증 경로는 없고 기준 요율이 하한입니다.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411480" y="6364224"/>
            <a:ext cx="11338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대시보드 화면 캡처 · 합성 시뮬레이션 결과이며 확정 요율이 아닙니다 · 달러는 예시 환율(1$≈₩1,350) 환산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2026-08-04T11:30:33Z</dcterms:created>
  <dcterms:modified xsi:type="dcterms:W3CDTF">2026-08-04T11:30:33Z</dcterms:modified>
</cp:coreProperties>
</file>